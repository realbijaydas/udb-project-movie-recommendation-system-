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5840" cy="5659120"/>
          </a:xfrm>
          <a:custGeom>
            <a:avLst/>
            <a:gdLst/>
            <a:ahLst/>
            <a:cxnLst/>
            <a:rect l="l" t="t" r="r" b="b"/>
            <a:pathLst>
              <a:path w="1005840" h="5659120">
                <a:moveTo>
                  <a:pt x="0" y="0"/>
                </a:moveTo>
                <a:lnTo>
                  <a:pt x="1005840" y="5658611"/>
                </a:lnTo>
              </a:path>
            </a:pathLst>
          </a:custGeom>
          <a:ln w="10668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10668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5"/>
            <a:ext cx="2692907" cy="565861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5840" cy="5659120"/>
          </a:xfrm>
          <a:custGeom>
            <a:avLst/>
            <a:gdLst/>
            <a:ahLst/>
            <a:cxnLst/>
            <a:rect l="l" t="t" r="r" b="b"/>
            <a:pathLst>
              <a:path w="1005840" h="5659120">
                <a:moveTo>
                  <a:pt x="0" y="0"/>
                </a:moveTo>
                <a:lnTo>
                  <a:pt x="1005840" y="5658611"/>
                </a:lnTo>
              </a:path>
            </a:pathLst>
          </a:custGeom>
          <a:ln w="10668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10668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1545" y="1233960"/>
            <a:ext cx="8093709" cy="511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2325" y="2338817"/>
            <a:ext cx="4344670" cy="3246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9888" y="1057656"/>
            <a:ext cx="4858511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Introduction</a:t>
            </a:r>
            <a:r>
              <a:rPr dirty="0" spc="-100"/>
              <a:t> </a:t>
            </a:r>
            <a:r>
              <a:rPr dirty="0"/>
              <a:t>to</a:t>
            </a:r>
            <a:r>
              <a:rPr dirty="0" spc="-100"/>
              <a:t> </a:t>
            </a:r>
            <a:r>
              <a:rPr dirty="0"/>
              <a:t>Movie</a:t>
            </a:r>
            <a:r>
              <a:rPr dirty="0" spc="-90"/>
              <a:t> </a:t>
            </a:r>
            <a:r>
              <a:rPr dirty="0" spc="-10"/>
              <a:t>Recommendation</a:t>
            </a:r>
            <a:r>
              <a:rPr dirty="0" spc="-95"/>
              <a:t> </a:t>
            </a:r>
            <a:r>
              <a:rPr dirty="0"/>
              <a:t>&amp;</a:t>
            </a:r>
            <a:r>
              <a:rPr dirty="0" spc="-120"/>
              <a:t> </a:t>
            </a:r>
            <a:r>
              <a:rPr dirty="0"/>
              <a:t>Review</a:t>
            </a:r>
            <a:r>
              <a:rPr dirty="0" spc="-95"/>
              <a:t> </a:t>
            </a:r>
            <a:r>
              <a:rPr dirty="0" spc="-10"/>
              <a:t>System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92325" y="2338817"/>
            <a:ext cx="4295140" cy="271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162560">
              <a:lnSpc>
                <a:spcPct val="100899"/>
              </a:lnSpc>
              <a:spcBef>
                <a:spcPts val="95"/>
              </a:spcBef>
            </a:pPr>
            <a:r>
              <a:rPr dirty="0" sz="1750" b="1">
                <a:latin typeface="Calibri"/>
                <a:cs typeface="Calibri"/>
              </a:rPr>
              <a:t>A</a:t>
            </a:r>
            <a:r>
              <a:rPr dirty="0" sz="1750" spc="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Movie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Recommendation</a:t>
            </a:r>
            <a:r>
              <a:rPr dirty="0" sz="1750" spc="-3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&amp;</a:t>
            </a:r>
            <a:r>
              <a:rPr dirty="0" sz="1750" spc="-1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Review</a:t>
            </a:r>
            <a:r>
              <a:rPr dirty="0" sz="1750" spc="-45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System </a:t>
            </a:r>
            <a:r>
              <a:rPr dirty="0" sz="1750" b="1">
                <a:latin typeface="Calibri"/>
                <a:cs typeface="Calibri"/>
              </a:rPr>
              <a:t>helps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users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discover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movies</a:t>
            </a:r>
            <a:r>
              <a:rPr dirty="0" sz="1750" spc="-5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tailored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to</a:t>
            </a:r>
            <a:r>
              <a:rPr dirty="0" sz="1750" spc="-30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their preferences.</a:t>
            </a:r>
            <a:endParaRPr sz="1750">
              <a:latin typeface="Calibri"/>
              <a:cs typeface="Calibri"/>
            </a:endParaRPr>
          </a:p>
          <a:p>
            <a:pPr algn="just" marL="12700" marR="233679">
              <a:lnSpc>
                <a:spcPct val="101099"/>
              </a:lnSpc>
              <a:spcBef>
                <a:spcPts val="2085"/>
              </a:spcBef>
            </a:pPr>
            <a:r>
              <a:rPr dirty="0" sz="1750" b="1">
                <a:latin typeface="Calibri"/>
                <a:cs typeface="Calibri"/>
              </a:rPr>
              <a:t>It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also</a:t>
            </a:r>
            <a:r>
              <a:rPr dirty="0" sz="1750" spc="-3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enables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users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to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share</a:t>
            </a:r>
            <a:r>
              <a:rPr dirty="0" sz="1750" spc="-2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and</a:t>
            </a:r>
            <a:r>
              <a:rPr dirty="0" sz="1750" spc="-10" b="1">
                <a:latin typeface="Calibri"/>
                <a:cs typeface="Calibri"/>
              </a:rPr>
              <a:t> </a:t>
            </a:r>
            <a:r>
              <a:rPr dirty="0" sz="1750" spc="-20" b="1">
                <a:latin typeface="Calibri"/>
                <a:cs typeface="Calibri"/>
              </a:rPr>
              <a:t>read </a:t>
            </a:r>
            <a:r>
              <a:rPr dirty="0" sz="1750" b="1">
                <a:latin typeface="Calibri"/>
                <a:cs typeface="Calibri"/>
              </a:rPr>
              <a:t>reviews,</a:t>
            </a:r>
            <a:r>
              <a:rPr dirty="0" sz="1750" spc="-3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enhancing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the</a:t>
            </a:r>
            <a:r>
              <a:rPr dirty="0" sz="1750" spc="-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viewing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experience.</a:t>
            </a:r>
            <a:endParaRPr sz="1750">
              <a:latin typeface="Calibri"/>
              <a:cs typeface="Calibri"/>
            </a:endParaRPr>
          </a:p>
          <a:p>
            <a:pPr marL="12700" marR="5080">
              <a:lnSpc>
                <a:spcPct val="100899"/>
              </a:lnSpc>
              <a:spcBef>
                <a:spcPts val="2095"/>
              </a:spcBef>
            </a:pPr>
            <a:r>
              <a:rPr dirty="0" sz="1750" b="1">
                <a:latin typeface="Calibri"/>
                <a:cs typeface="Calibri"/>
              </a:rPr>
              <a:t>These</a:t>
            </a:r>
            <a:r>
              <a:rPr dirty="0" sz="1750" spc="-30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systems</a:t>
            </a:r>
            <a:r>
              <a:rPr dirty="0" sz="1750" spc="-4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combine</a:t>
            </a:r>
            <a:r>
              <a:rPr dirty="0" sz="1750" spc="-1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data</a:t>
            </a:r>
            <a:r>
              <a:rPr dirty="0" sz="1750" spc="-3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analysis, </a:t>
            </a:r>
            <a:r>
              <a:rPr dirty="0" sz="1750" spc="-20" b="1">
                <a:latin typeface="Calibri"/>
                <a:cs typeface="Calibri"/>
              </a:rPr>
              <a:t>user </a:t>
            </a:r>
            <a:r>
              <a:rPr dirty="0" sz="1750" b="1">
                <a:latin typeface="Calibri"/>
                <a:cs typeface="Calibri"/>
              </a:rPr>
              <a:t>feedback,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and</a:t>
            </a:r>
            <a:r>
              <a:rPr dirty="0" sz="1750" spc="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machine</a:t>
            </a:r>
            <a:r>
              <a:rPr dirty="0" sz="1750" spc="-5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learning</a:t>
            </a:r>
            <a:r>
              <a:rPr dirty="0" sz="1750" spc="1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techniques</a:t>
            </a:r>
            <a:r>
              <a:rPr dirty="0" sz="1750" spc="-20" b="1">
                <a:latin typeface="Calibri"/>
                <a:cs typeface="Calibri"/>
              </a:rPr>
              <a:t> </a:t>
            </a:r>
            <a:r>
              <a:rPr dirty="0" sz="1750" spc="-25" b="1">
                <a:latin typeface="Calibri"/>
                <a:cs typeface="Calibri"/>
              </a:rPr>
              <a:t>to </a:t>
            </a:r>
            <a:r>
              <a:rPr dirty="0" sz="1750" b="1">
                <a:latin typeface="Calibri"/>
                <a:cs typeface="Calibri"/>
              </a:rPr>
              <a:t>improve</a:t>
            </a:r>
            <a:r>
              <a:rPr dirty="0" sz="1750" spc="-4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accuracy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and</a:t>
            </a:r>
            <a:r>
              <a:rPr dirty="0" sz="1750" spc="-10" b="1">
                <a:latin typeface="Calibri"/>
                <a:cs typeface="Calibri"/>
              </a:rPr>
              <a:t> relevance.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5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9200" y="2802635"/>
            <a:ext cx="4526280" cy="254660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105" rIns="0" bIns="0" rtlCol="0" vert="horz">
            <a:spAutoFit/>
          </a:bodyPr>
          <a:lstStyle/>
          <a:p>
            <a:pPr marL="75755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Types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Movie</a:t>
            </a:r>
            <a:r>
              <a:rPr dirty="0" spc="-35"/>
              <a:t> </a:t>
            </a:r>
            <a:r>
              <a:rPr dirty="0" spc="-20"/>
              <a:t>Recommendation</a:t>
            </a:r>
            <a:r>
              <a:rPr dirty="0" spc="-65"/>
              <a:t> </a:t>
            </a:r>
            <a:r>
              <a:rPr dirty="0" spc="-10"/>
              <a:t>Approaches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120014">
              <a:lnSpc>
                <a:spcPct val="100899"/>
              </a:lnSpc>
              <a:spcBef>
                <a:spcPts val="95"/>
              </a:spcBef>
            </a:pPr>
            <a:r>
              <a:rPr dirty="0"/>
              <a:t>Collaborative</a:t>
            </a:r>
            <a:r>
              <a:rPr dirty="0" spc="-45"/>
              <a:t> </a:t>
            </a:r>
            <a:r>
              <a:rPr dirty="0"/>
              <a:t>filtering</a:t>
            </a:r>
            <a:r>
              <a:rPr dirty="0" spc="-60"/>
              <a:t> </a:t>
            </a:r>
            <a:r>
              <a:rPr dirty="0"/>
              <a:t>predicts</a:t>
            </a:r>
            <a:r>
              <a:rPr dirty="0" spc="-55"/>
              <a:t> </a:t>
            </a:r>
            <a:r>
              <a:rPr dirty="0" spc="-20"/>
              <a:t>user </a:t>
            </a:r>
            <a:r>
              <a:rPr dirty="0"/>
              <a:t>preferences</a:t>
            </a:r>
            <a:r>
              <a:rPr dirty="0" spc="-30"/>
              <a:t> </a:t>
            </a:r>
            <a:r>
              <a:rPr dirty="0"/>
              <a:t>based</a:t>
            </a:r>
            <a:r>
              <a:rPr dirty="0" spc="-20"/>
              <a:t> </a:t>
            </a:r>
            <a:r>
              <a:rPr dirty="0"/>
              <a:t>on</a:t>
            </a:r>
            <a:r>
              <a:rPr dirty="0" spc="-5"/>
              <a:t> </a:t>
            </a:r>
            <a:r>
              <a:rPr dirty="0"/>
              <a:t>similar</a:t>
            </a:r>
            <a:r>
              <a:rPr dirty="0" spc="-50"/>
              <a:t> </a:t>
            </a:r>
            <a:r>
              <a:rPr dirty="0"/>
              <a:t>users'</a:t>
            </a:r>
            <a:r>
              <a:rPr dirty="0" spc="-30"/>
              <a:t> </a:t>
            </a:r>
            <a:r>
              <a:rPr dirty="0" spc="-10"/>
              <a:t>behavior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 spc="-10"/>
              <a:t>ratings.</a:t>
            </a:r>
          </a:p>
          <a:p>
            <a:pPr marL="12700" marR="132715">
              <a:lnSpc>
                <a:spcPct val="100899"/>
              </a:lnSpc>
              <a:spcBef>
                <a:spcPts val="2090"/>
              </a:spcBef>
            </a:pPr>
            <a:r>
              <a:rPr dirty="0" spc="-10"/>
              <a:t>Content-</a:t>
            </a:r>
            <a:r>
              <a:rPr dirty="0"/>
              <a:t>based</a:t>
            </a:r>
            <a:r>
              <a:rPr dirty="0" spc="-30"/>
              <a:t> </a:t>
            </a:r>
            <a:r>
              <a:rPr dirty="0"/>
              <a:t>filtering</a:t>
            </a:r>
            <a:r>
              <a:rPr dirty="0" spc="-20"/>
              <a:t> </a:t>
            </a:r>
            <a:r>
              <a:rPr dirty="0"/>
              <a:t>recommends</a:t>
            </a:r>
            <a:r>
              <a:rPr dirty="0" spc="-30"/>
              <a:t> </a:t>
            </a:r>
            <a:r>
              <a:rPr dirty="0" spc="-10"/>
              <a:t>movies </a:t>
            </a:r>
            <a:r>
              <a:rPr dirty="0"/>
              <a:t>with</a:t>
            </a:r>
            <a:r>
              <a:rPr dirty="0" spc="-15"/>
              <a:t> </a:t>
            </a:r>
            <a:r>
              <a:rPr dirty="0"/>
              <a:t>similar</a:t>
            </a:r>
            <a:r>
              <a:rPr dirty="0" spc="-10"/>
              <a:t> attributes</a:t>
            </a:r>
            <a:r>
              <a:rPr dirty="0" spc="-40"/>
              <a:t> </a:t>
            </a:r>
            <a:r>
              <a:rPr dirty="0"/>
              <a:t>to those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10"/>
              <a:t> </a:t>
            </a:r>
            <a:r>
              <a:rPr dirty="0"/>
              <a:t>user</a:t>
            </a:r>
            <a:r>
              <a:rPr dirty="0" spc="-15"/>
              <a:t> </a:t>
            </a:r>
            <a:r>
              <a:rPr dirty="0" spc="-25"/>
              <a:t>has </a:t>
            </a:r>
            <a:r>
              <a:rPr dirty="0"/>
              <a:t>liked</a:t>
            </a:r>
            <a:r>
              <a:rPr dirty="0" spc="-50"/>
              <a:t> </a:t>
            </a:r>
            <a:r>
              <a:rPr dirty="0" spc="-10"/>
              <a:t>previously.</a:t>
            </a:r>
          </a:p>
          <a:p>
            <a:pPr marL="12700" marR="5080">
              <a:lnSpc>
                <a:spcPct val="100899"/>
              </a:lnSpc>
              <a:spcBef>
                <a:spcPts val="2095"/>
              </a:spcBef>
            </a:pPr>
            <a:r>
              <a:rPr dirty="0"/>
              <a:t>Hybrid</a:t>
            </a:r>
            <a:r>
              <a:rPr dirty="0" spc="5"/>
              <a:t> </a:t>
            </a:r>
            <a:r>
              <a:rPr dirty="0"/>
              <a:t>methods</a:t>
            </a:r>
            <a:r>
              <a:rPr dirty="0" spc="-20"/>
              <a:t> </a:t>
            </a:r>
            <a:r>
              <a:rPr dirty="0"/>
              <a:t>combine</a:t>
            </a:r>
            <a:r>
              <a:rPr dirty="0" spc="-5"/>
              <a:t> </a:t>
            </a:r>
            <a:r>
              <a:rPr dirty="0"/>
              <a:t>multiple</a:t>
            </a:r>
            <a:r>
              <a:rPr dirty="0" spc="-40"/>
              <a:t> </a:t>
            </a:r>
            <a:r>
              <a:rPr dirty="0" spc="-10"/>
              <a:t>techniques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/>
              <a:t>overcome</a:t>
            </a:r>
            <a:r>
              <a:rPr dirty="0" spc="-35"/>
              <a:t> </a:t>
            </a:r>
            <a:r>
              <a:rPr dirty="0"/>
              <a:t>limitations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/>
              <a:t>provide</a:t>
            </a:r>
            <a:r>
              <a:rPr dirty="0" spc="-20"/>
              <a:t> more </a:t>
            </a:r>
            <a:r>
              <a:rPr dirty="0"/>
              <a:t>accurate</a:t>
            </a:r>
            <a:r>
              <a:rPr dirty="0" spc="-85"/>
              <a:t> </a:t>
            </a:r>
            <a:r>
              <a:rPr dirty="0" spc="-10"/>
              <a:t>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9888" y="1057656"/>
            <a:ext cx="4858511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105" rIns="0" bIns="0" rtlCol="0" vert="horz">
            <a:spAutoFit/>
          </a:bodyPr>
          <a:lstStyle/>
          <a:p>
            <a:pPr marL="2000885">
              <a:lnSpc>
                <a:spcPct val="100000"/>
              </a:lnSpc>
              <a:spcBef>
                <a:spcPts val="90"/>
              </a:spcBef>
            </a:pPr>
            <a:r>
              <a:rPr dirty="0"/>
              <a:t>Data</a:t>
            </a:r>
            <a:r>
              <a:rPr dirty="0" spc="-95"/>
              <a:t> </a:t>
            </a:r>
            <a:r>
              <a:rPr dirty="0"/>
              <a:t>Sources</a:t>
            </a:r>
            <a:r>
              <a:rPr dirty="0" spc="-75"/>
              <a:t> </a:t>
            </a:r>
            <a:r>
              <a:rPr dirty="0"/>
              <a:t>for</a:t>
            </a:r>
            <a:r>
              <a:rPr dirty="0" spc="-114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 spc="-10"/>
              <a:t>System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92325" y="2338817"/>
            <a:ext cx="4340225" cy="2978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65455">
              <a:lnSpc>
                <a:spcPct val="100899"/>
              </a:lnSpc>
              <a:spcBef>
                <a:spcPts val="95"/>
              </a:spcBef>
            </a:pPr>
            <a:r>
              <a:rPr dirty="0" sz="1750" b="1">
                <a:latin typeface="Calibri"/>
                <a:cs typeface="Calibri"/>
              </a:rPr>
              <a:t>User ratings,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reviews,</a:t>
            </a:r>
            <a:r>
              <a:rPr dirty="0" sz="1750" spc="-2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and</a:t>
            </a:r>
            <a:r>
              <a:rPr dirty="0" sz="1750" spc="-2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viewing</a:t>
            </a:r>
            <a:r>
              <a:rPr dirty="0" sz="1750" spc="-10" b="1">
                <a:latin typeface="Calibri"/>
                <a:cs typeface="Calibri"/>
              </a:rPr>
              <a:t> history </a:t>
            </a:r>
            <a:r>
              <a:rPr dirty="0" sz="1750" b="1">
                <a:latin typeface="Calibri"/>
                <a:cs typeface="Calibri"/>
              </a:rPr>
              <a:t>form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the</a:t>
            </a:r>
            <a:r>
              <a:rPr dirty="0" sz="1750" spc="-3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core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data</a:t>
            </a:r>
            <a:r>
              <a:rPr dirty="0" sz="1750" spc="-5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for </a:t>
            </a:r>
            <a:r>
              <a:rPr dirty="0" sz="1750" spc="-10" b="1">
                <a:latin typeface="Calibri"/>
                <a:cs typeface="Calibri"/>
              </a:rPr>
              <a:t>personalized recommendations.</a:t>
            </a:r>
            <a:endParaRPr sz="1750">
              <a:latin typeface="Calibri"/>
              <a:cs typeface="Calibri"/>
            </a:endParaRPr>
          </a:p>
          <a:p>
            <a:pPr algn="just" marL="12700" marR="130175">
              <a:lnSpc>
                <a:spcPct val="100899"/>
              </a:lnSpc>
              <a:spcBef>
                <a:spcPts val="2090"/>
              </a:spcBef>
            </a:pPr>
            <a:r>
              <a:rPr dirty="0" sz="1750" b="1">
                <a:latin typeface="Calibri"/>
                <a:cs typeface="Calibri"/>
              </a:rPr>
              <a:t>Movie</a:t>
            </a:r>
            <a:r>
              <a:rPr dirty="0" sz="1750" spc="-20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metadata</a:t>
            </a:r>
            <a:r>
              <a:rPr dirty="0" sz="1750" spc="-3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such</a:t>
            </a:r>
            <a:r>
              <a:rPr dirty="0" sz="1750" spc="-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as</a:t>
            </a:r>
            <a:r>
              <a:rPr dirty="0" sz="1750" spc="-3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genre,</a:t>
            </a:r>
            <a:r>
              <a:rPr dirty="0" sz="1750" spc="1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cast,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director, </a:t>
            </a:r>
            <a:r>
              <a:rPr dirty="0" sz="1750" b="1">
                <a:latin typeface="Calibri"/>
                <a:cs typeface="Calibri"/>
              </a:rPr>
              <a:t>and</a:t>
            </a:r>
            <a:r>
              <a:rPr dirty="0" sz="1750" spc="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release</a:t>
            </a:r>
            <a:r>
              <a:rPr dirty="0" sz="1750" spc="-4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year</a:t>
            </a:r>
            <a:r>
              <a:rPr dirty="0" sz="1750" spc="-2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enrich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the </a:t>
            </a:r>
            <a:r>
              <a:rPr dirty="0" sz="1750" spc="-10" b="1">
                <a:latin typeface="Calibri"/>
                <a:cs typeface="Calibri"/>
              </a:rPr>
              <a:t>recommendation process.</a:t>
            </a:r>
            <a:endParaRPr sz="1750">
              <a:latin typeface="Calibri"/>
              <a:cs typeface="Calibri"/>
            </a:endParaRPr>
          </a:p>
          <a:p>
            <a:pPr marL="12700" marR="5080">
              <a:lnSpc>
                <a:spcPct val="100899"/>
              </a:lnSpc>
              <a:spcBef>
                <a:spcPts val="2095"/>
              </a:spcBef>
            </a:pPr>
            <a:r>
              <a:rPr dirty="0" sz="1750" b="1">
                <a:latin typeface="Calibri"/>
                <a:cs typeface="Calibri"/>
              </a:rPr>
              <a:t>External</a:t>
            </a:r>
            <a:r>
              <a:rPr dirty="0" sz="1750" spc="-5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data</a:t>
            </a:r>
            <a:r>
              <a:rPr dirty="0" sz="1750" spc="-2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like</a:t>
            </a:r>
            <a:r>
              <a:rPr dirty="0" sz="1750" spc="-6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social</a:t>
            </a:r>
            <a:r>
              <a:rPr dirty="0" sz="1750" spc="-4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media</a:t>
            </a:r>
            <a:r>
              <a:rPr dirty="0" sz="1750" spc="-4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trends</a:t>
            </a:r>
            <a:r>
              <a:rPr dirty="0" sz="1750" spc="5" b="1">
                <a:latin typeface="Calibri"/>
                <a:cs typeface="Calibri"/>
              </a:rPr>
              <a:t> </a:t>
            </a:r>
            <a:r>
              <a:rPr dirty="0" sz="1750" spc="-25" b="1">
                <a:latin typeface="Calibri"/>
                <a:cs typeface="Calibri"/>
              </a:rPr>
              <a:t>and</a:t>
            </a:r>
            <a:r>
              <a:rPr dirty="0" sz="1750" spc="50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critic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reviews</a:t>
            </a:r>
            <a:r>
              <a:rPr dirty="0" sz="1750" spc="-3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can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also</a:t>
            </a:r>
            <a:r>
              <a:rPr dirty="0" sz="1750" spc="-5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enhance</a:t>
            </a:r>
            <a:r>
              <a:rPr dirty="0" sz="1750" spc="-4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system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insights </a:t>
            </a:r>
            <a:r>
              <a:rPr dirty="0" sz="1750" b="1">
                <a:latin typeface="Calibri"/>
                <a:cs typeface="Calibri"/>
              </a:rPr>
              <a:t>and</a:t>
            </a:r>
            <a:r>
              <a:rPr dirty="0" sz="1750" spc="10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relevance.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5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48755" y="2314956"/>
            <a:ext cx="2488691" cy="35204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105" rIns="0" bIns="0" rtlCol="0" vert="horz">
            <a:spAutoFit/>
          </a:bodyPr>
          <a:lstStyle/>
          <a:p>
            <a:pPr marL="1789430">
              <a:lnSpc>
                <a:spcPct val="100000"/>
              </a:lnSpc>
              <a:spcBef>
                <a:spcPts val="90"/>
              </a:spcBef>
            </a:pPr>
            <a:r>
              <a:rPr dirty="0"/>
              <a:t>Key</a:t>
            </a:r>
            <a:r>
              <a:rPr dirty="0" spc="-75"/>
              <a:t> </a:t>
            </a:r>
            <a:r>
              <a:rPr dirty="0" spc="-10"/>
              <a:t>Components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 spc="-10"/>
              <a:t>System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105410">
              <a:lnSpc>
                <a:spcPct val="100899"/>
              </a:lnSpc>
              <a:spcBef>
                <a:spcPts val="95"/>
              </a:spcBef>
            </a:pPr>
            <a:r>
              <a:rPr dirty="0"/>
              <a:t>User</a:t>
            </a:r>
            <a:r>
              <a:rPr dirty="0" spc="-10"/>
              <a:t> </a:t>
            </a:r>
            <a:r>
              <a:rPr dirty="0"/>
              <a:t>profiling</a:t>
            </a:r>
            <a:r>
              <a:rPr dirty="0" spc="-5"/>
              <a:t> </a:t>
            </a:r>
            <a:r>
              <a:rPr dirty="0"/>
              <a:t>captures</a:t>
            </a:r>
            <a:r>
              <a:rPr dirty="0" spc="-15"/>
              <a:t> </a:t>
            </a:r>
            <a:r>
              <a:rPr dirty="0"/>
              <a:t>individual</a:t>
            </a:r>
            <a:r>
              <a:rPr dirty="0" spc="-30"/>
              <a:t> </a:t>
            </a:r>
            <a:r>
              <a:rPr dirty="0" spc="-10"/>
              <a:t>preferences </a:t>
            </a:r>
            <a:r>
              <a:rPr dirty="0"/>
              <a:t>and</a:t>
            </a:r>
            <a:r>
              <a:rPr dirty="0" spc="15"/>
              <a:t> </a:t>
            </a:r>
            <a:r>
              <a:rPr dirty="0"/>
              <a:t>viewing</a:t>
            </a:r>
            <a:r>
              <a:rPr dirty="0" spc="-35"/>
              <a:t> </a:t>
            </a:r>
            <a:r>
              <a:rPr dirty="0"/>
              <a:t>habits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 spc="-10"/>
              <a:t>tailor recommendations.</a:t>
            </a:r>
          </a:p>
          <a:p>
            <a:pPr marL="12700" marR="5080">
              <a:lnSpc>
                <a:spcPct val="101099"/>
              </a:lnSpc>
              <a:spcBef>
                <a:spcPts val="2085"/>
              </a:spcBef>
            </a:pPr>
            <a:r>
              <a:rPr dirty="0"/>
              <a:t>Recommendation</a:t>
            </a:r>
            <a:r>
              <a:rPr dirty="0" spc="-45"/>
              <a:t> </a:t>
            </a:r>
            <a:r>
              <a:rPr dirty="0"/>
              <a:t>engine</a:t>
            </a:r>
            <a:r>
              <a:rPr dirty="0" spc="-20"/>
              <a:t> </a:t>
            </a:r>
            <a:r>
              <a:rPr dirty="0"/>
              <a:t>applies</a:t>
            </a:r>
            <a:r>
              <a:rPr dirty="0" spc="-30"/>
              <a:t> </a:t>
            </a:r>
            <a:r>
              <a:rPr dirty="0"/>
              <a:t>algorithms</a:t>
            </a:r>
            <a:r>
              <a:rPr dirty="0" spc="-50"/>
              <a:t> </a:t>
            </a:r>
            <a:r>
              <a:rPr dirty="0" spc="-25"/>
              <a:t>to </a:t>
            </a:r>
            <a:r>
              <a:rPr dirty="0"/>
              <a:t>generate</a:t>
            </a:r>
            <a:r>
              <a:rPr dirty="0" spc="-55"/>
              <a:t> </a:t>
            </a:r>
            <a:r>
              <a:rPr dirty="0"/>
              <a:t>personalized</a:t>
            </a:r>
            <a:r>
              <a:rPr dirty="0" spc="-55"/>
              <a:t> </a:t>
            </a:r>
            <a:r>
              <a:rPr dirty="0"/>
              <a:t>movie</a:t>
            </a:r>
            <a:r>
              <a:rPr dirty="0" spc="-55"/>
              <a:t> </a:t>
            </a:r>
            <a:r>
              <a:rPr dirty="0" spc="-10"/>
              <a:t>suggestions.</a:t>
            </a:r>
          </a:p>
          <a:p>
            <a:pPr algn="just" marL="12700" marR="59055">
              <a:lnSpc>
                <a:spcPct val="100899"/>
              </a:lnSpc>
              <a:spcBef>
                <a:spcPts val="2095"/>
              </a:spcBef>
            </a:pPr>
            <a:r>
              <a:rPr dirty="0"/>
              <a:t>Review</a:t>
            </a:r>
            <a:r>
              <a:rPr dirty="0" spc="-55"/>
              <a:t> </a:t>
            </a:r>
            <a:r>
              <a:rPr dirty="0"/>
              <a:t>aggregation</a:t>
            </a:r>
            <a:r>
              <a:rPr dirty="0" spc="-35"/>
              <a:t> </a:t>
            </a:r>
            <a:r>
              <a:rPr dirty="0"/>
              <a:t>collects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analyzes</a:t>
            </a:r>
            <a:r>
              <a:rPr dirty="0" spc="-40"/>
              <a:t> </a:t>
            </a:r>
            <a:r>
              <a:rPr dirty="0" spc="-20"/>
              <a:t>user </a:t>
            </a:r>
            <a:r>
              <a:rPr dirty="0"/>
              <a:t>reviews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inform</a:t>
            </a:r>
            <a:r>
              <a:rPr dirty="0" spc="-20"/>
              <a:t> </a:t>
            </a:r>
            <a:r>
              <a:rPr dirty="0"/>
              <a:t>both</a:t>
            </a:r>
            <a:r>
              <a:rPr dirty="0" spc="-25"/>
              <a:t> </a:t>
            </a:r>
            <a:r>
              <a:rPr dirty="0"/>
              <a:t>recommendations</a:t>
            </a:r>
            <a:r>
              <a:rPr dirty="0" spc="-65"/>
              <a:t> </a:t>
            </a:r>
            <a:r>
              <a:rPr dirty="0" spc="-25"/>
              <a:t>and </a:t>
            </a:r>
            <a:r>
              <a:rPr dirty="0"/>
              <a:t>user </a:t>
            </a:r>
            <a:r>
              <a:rPr dirty="0" spc="-10"/>
              <a:t>trust.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6152" y="1057656"/>
            <a:ext cx="5032248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221932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Popular</a:t>
            </a:r>
            <a:r>
              <a:rPr dirty="0" spc="-75"/>
              <a:t> </a:t>
            </a:r>
            <a:r>
              <a:rPr dirty="0" spc="-10"/>
              <a:t>Algorithms</a:t>
            </a:r>
            <a:r>
              <a:rPr dirty="0" spc="-80"/>
              <a:t> </a:t>
            </a:r>
            <a:r>
              <a:rPr dirty="0" spc="-20"/>
              <a:t>Used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92325" y="2338817"/>
            <a:ext cx="4192270" cy="2978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92710">
              <a:lnSpc>
                <a:spcPct val="100899"/>
              </a:lnSpc>
              <a:spcBef>
                <a:spcPts val="95"/>
              </a:spcBef>
            </a:pPr>
            <a:r>
              <a:rPr dirty="0" sz="1750" b="1">
                <a:latin typeface="Calibri"/>
                <a:cs typeface="Calibri"/>
              </a:rPr>
              <a:t>Matrix</a:t>
            </a:r>
            <a:r>
              <a:rPr dirty="0" sz="1750" spc="-10" b="1">
                <a:latin typeface="Calibri"/>
                <a:cs typeface="Calibri"/>
              </a:rPr>
              <a:t> factorization</a:t>
            </a:r>
            <a:r>
              <a:rPr dirty="0" sz="1750" spc="-3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techniques</a:t>
            </a:r>
            <a:r>
              <a:rPr dirty="0" sz="1750" spc="-2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like</a:t>
            </a:r>
            <a:r>
              <a:rPr dirty="0" sz="1750" spc="-50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Singular Value</a:t>
            </a:r>
            <a:r>
              <a:rPr dirty="0" sz="1750" spc="-4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Decomposition</a:t>
            </a:r>
            <a:r>
              <a:rPr dirty="0" sz="1750" spc="-4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(SVD) are widely</a:t>
            </a:r>
            <a:r>
              <a:rPr dirty="0" sz="1750" spc="-20" b="1">
                <a:latin typeface="Calibri"/>
                <a:cs typeface="Calibri"/>
              </a:rPr>
              <a:t> used </a:t>
            </a:r>
            <a:r>
              <a:rPr dirty="0" sz="1750" b="1">
                <a:latin typeface="Calibri"/>
                <a:cs typeface="Calibri"/>
              </a:rPr>
              <a:t>for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collaborative</a:t>
            </a:r>
            <a:r>
              <a:rPr dirty="0" sz="1750" spc="-50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filtering.</a:t>
            </a:r>
            <a:endParaRPr sz="1750">
              <a:latin typeface="Calibri"/>
              <a:cs typeface="Calibri"/>
            </a:endParaRPr>
          </a:p>
          <a:p>
            <a:pPr marL="12700" marR="482600">
              <a:lnSpc>
                <a:spcPct val="100899"/>
              </a:lnSpc>
              <a:spcBef>
                <a:spcPts val="2090"/>
              </a:spcBef>
            </a:pPr>
            <a:r>
              <a:rPr dirty="0" sz="1750" spc="-10" b="1">
                <a:latin typeface="Calibri"/>
                <a:cs typeface="Calibri"/>
              </a:rPr>
              <a:t>Content-</a:t>
            </a:r>
            <a:r>
              <a:rPr dirty="0" sz="1750" b="1">
                <a:latin typeface="Calibri"/>
                <a:cs typeface="Calibri"/>
              </a:rPr>
              <a:t>based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filtering</a:t>
            </a:r>
            <a:r>
              <a:rPr dirty="0" sz="1750" spc="-2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employs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vector </a:t>
            </a:r>
            <a:r>
              <a:rPr dirty="0" sz="1750" b="1">
                <a:latin typeface="Calibri"/>
                <a:cs typeface="Calibri"/>
              </a:rPr>
              <a:t>similarity</a:t>
            </a:r>
            <a:r>
              <a:rPr dirty="0" sz="1750" spc="-5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and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keyword</a:t>
            </a:r>
            <a:r>
              <a:rPr dirty="0" sz="1750" spc="-4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matching</a:t>
            </a:r>
            <a:r>
              <a:rPr dirty="0" sz="1750" spc="-5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to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spc="-20" b="1">
                <a:latin typeface="Calibri"/>
                <a:cs typeface="Calibri"/>
              </a:rPr>
              <a:t>find </a:t>
            </a:r>
            <a:r>
              <a:rPr dirty="0" sz="1750" b="1">
                <a:latin typeface="Calibri"/>
                <a:cs typeface="Calibri"/>
              </a:rPr>
              <a:t>similar</a:t>
            </a:r>
            <a:r>
              <a:rPr dirty="0" sz="1750" spc="-30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movies.</a:t>
            </a:r>
            <a:endParaRPr sz="1750">
              <a:latin typeface="Calibri"/>
              <a:cs typeface="Calibri"/>
            </a:endParaRPr>
          </a:p>
          <a:p>
            <a:pPr marL="12700" marR="5080">
              <a:lnSpc>
                <a:spcPct val="100899"/>
              </a:lnSpc>
              <a:spcBef>
                <a:spcPts val="2095"/>
              </a:spcBef>
            </a:pPr>
            <a:r>
              <a:rPr dirty="0" sz="1750" b="1">
                <a:latin typeface="Calibri"/>
                <a:cs typeface="Calibri"/>
              </a:rPr>
              <a:t>Machine</a:t>
            </a:r>
            <a:r>
              <a:rPr dirty="0" sz="1750" spc="-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learning</a:t>
            </a:r>
            <a:r>
              <a:rPr dirty="0" sz="1750" spc="-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models</a:t>
            </a:r>
            <a:r>
              <a:rPr dirty="0" sz="1750" spc="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such</a:t>
            </a:r>
            <a:r>
              <a:rPr dirty="0" sz="1750" spc="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as</a:t>
            </a:r>
            <a:r>
              <a:rPr dirty="0" sz="1750" spc="-10" b="1">
                <a:latin typeface="Calibri"/>
                <a:cs typeface="Calibri"/>
              </a:rPr>
              <a:t> neural </a:t>
            </a:r>
            <a:r>
              <a:rPr dirty="0" sz="1750" b="1">
                <a:latin typeface="Calibri"/>
                <a:cs typeface="Calibri"/>
              </a:rPr>
              <a:t>networks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can</a:t>
            </a:r>
            <a:r>
              <a:rPr dirty="0" sz="1750" spc="-55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integrate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multiple</a:t>
            </a:r>
            <a:r>
              <a:rPr dirty="0" sz="1750" spc="-6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data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sources </a:t>
            </a:r>
            <a:r>
              <a:rPr dirty="0" sz="1750" b="1">
                <a:latin typeface="Calibri"/>
                <a:cs typeface="Calibri"/>
              </a:rPr>
              <a:t>for improved</a:t>
            </a:r>
            <a:r>
              <a:rPr dirty="0" sz="1750" spc="-30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predictions.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5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9200" y="2802635"/>
            <a:ext cx="4526280" cy="254660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6082" rIns="0" bIns="0" rtlCol="0" vert="horz">
            <a:spAutoFit/>
          </a:bodyPr>
          <a:lstStyle/>
          <a:p>
            <a:pPr marL="2232660">
              <a:lnSpc>
                <a:spcPct val="100000"/>
              </a:lnSpc>
              <a:spcBef>
                <a:spcPts val="90"/>
              </a:spcBef>
            </a:pPr>
            <a:r>
              <a:rPr dirty="0"/>
              <a:t>Challenges</a:t>
            </a:r>
            <a:r>
              <a:rPr dirty="0" spc="-85"/>
              <a:t> </a:t>
            </a:r>
            <a:r>
              <a:rPr dirty="0"/>
              <a:t>&amp;</a:t>
            </a:r>
            <a:r>
              <a:rPr dirty="0" spc="-120"/>
              <a:t> </a:t>
            </a:r>
            <a:r>
              <a:rPr dirty="0" spc="-10"/>
              <a:t>Limitations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92325" y="2338817"/>
            <a:ext cx="4332605" cy="2978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11760">
              <a:lnSpc>
                <a:spcPct val="100899"/>
              </a:lnSpc>
              <a:spcBef>
                <a:spcPts val="95"/>
              </a:spcBef>
            </a:pPr>
            <a:r>
              <a:rPr dirty="0" sz="1750" b="1">
                <a:latin typeface="Calibri"/>
                <a:cs typeface="Calibri"/>
              </a:rPr>
              <a:t>Cold-start</a:t>
            </a:r>
            <a:r>
              <a:rPr dirty="0" sz="1750" spc="-3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problem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occurs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when</a:t>
            </a:r>
            <a:r>
              <a:rPr dirty="0" sz="1750" spc="-2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new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users</a:t>
            </a:r>
            <a:r>
              <a:rPr dirty="0" sz="1750" spc="-20" b="1">
                <a:latin typeface="Calibri"/>
                <a:cs typeface="Calibri"/>
              </a:rPr>
              <a:t> </a:t>
            </a:r>
            <a:r>
              <a:rPr dirty="0" sz="1750" spc="-25" b="1">
                <a:latin typeface="Calibri"/>
                <a:cs typeface="Calibri"/>
              </a:rPr>
              <a:t>or </a:t>
            </a:r>
            <a:r>
              <a:rPr dirty="0" sz="1750" b="1">
                <a:latin typeface="Calibri"/>
                <a:cs typeface="Calibri"/>
              </a:rPr>
              <a:t>movies</a:t>
            </a:r>
            <a:r>
              <a:rPr dirty="0" sz="1750" spc="-4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lack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sufficient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data</a:t>
            </a:r>
            <a:r>
              <a:rPr dirty="0" sz="1750" spc="-3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for</a:t>
            </a:r>
            <a:r>
              <a:rPr dirty="0" sz="1750" spc="5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accurate recommendations.</a:t>
            </a:r>
            <a:endParaRPr sz="1750">
              <a:latin typeface="Calibri"/>
              <a:cs typeface="Calibri"/>
            </a:endParaRPr>
          </a:p>
          <a:p>
            <a:pPr marL="12700" marR="5080">
              <a:lnSpc>
                <a:spcPct val="100899"/>
              </a:lnSpc>
              <a:spcBef>
                <a:spcPts val="2090"/>
              </a:spcBef>
            </a:pPr>
            <a:r>
              <a:rPr dirty="0" sz="1750" b="1">
                <a:latin typeface="Calibri"/>
                <a:cs typeface="Calibri"/>
              </a:rPr>
              <a:t>Popularity</a:t>
            </a:r>
            <a:r>
              <a:rPr dirty="0" sz="1750" spc="-4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bias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can</a:t>
            </a:r>
            <a:r>
              <a:rPr dirty="0" sz="1750" spc="-1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lead</a:t>
            </a:r>
            <a:r>
              <a:rPr dirty="0" sz="1750" spc="-2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to</a:t>
            </a:r>
            <a:r>
              <a:rPr dirty="0" sz="1750" spc="-10" b="1">
                <a:latin typeface="Calibri"/>
                <a:cs typeface="Calibri"/>
              </a:rPr>
              <a:t> </a:t>
            </a:r>
            <a:r>
              <a:rPr dirty="0" sz="1750" spc="-20" b="1">
                <a:latin typeface="Calibri"/>
                <a:cs typeface="Calibri"/>
              </a:rPr>
              <a:t>over- </a:t>
            </a:r>
            <a:r>
              <a:rPr dirty="0" sz="1750" b="1">
                <a:latin typeface="Calibri"/>
                <a:cs typeface="Calibri"/>
              </a:rPr>
              <a:t>recommendation</a:t>
            </a:r>
            <a:r>
              <a:rPr dirty="0" sz="1750" spc="-4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of</a:t>
            </a:r>
            <a:r>
              <a:rPr dirty="0" sz="1750" spc="1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trending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movies,</a:t>
            </a:r>
            <a:r>
              <a:rPr dirty="0" sz="1750" spc="-45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reducing diversity.</a:t>
            </a:r>
            <a:endParaRPr sz="1750">
              <a:latin typeface="Calibri"/>
              <a:cs typeface="Calibri"/>
            </a:endParaRPr>
          </a:p>
          <a:p>
            <a:pPr algn="just" marL="12700" marR="298450">
              <a:lnSpc>
                <a:spcPct val="100899"/>
              </a:lnSpc>
              <a:spcBef>
                <a:spcPts val="2095"/>
              </a:spcBef>
            </a:pPr>
            <a:r>
              <a:rPr dirty="0" sz="1750" b="1">
                <a:latin typeface="Calibri"/>
                <a:cs typeface="Calibri"/>
              </a:rPr>
              <a:t>Ensuring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review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authenticity</a:t>
            </a:r>
            <a:r>
              <a:rPr dirty="0" sz="1750" spc="-4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and </a:t>
            </a:r>
            <a:r>
              <a:rPr dirty="0" sz="1750" spc="-10" b="1">
                <a:latin typeface="Calibri"/>
                <a:cs typeface="Calibri"/>
              </a:rPr>
              <a:t>managing </a:t>
            </a:r>
            <a:r>
              <a:rPr dirty="0" sz="1750" b="1">
                <a:latin typeface="Calibri"/>
                <a:cs typeface="Calibri"/>
              </a:rPr>
              <a:t>fake</a:t>
            </a:r>
            <a:r>
              <a:rPr dirty="0" sz="1750" spc="-5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reviews</a:t>
            </a:r>
            <a:r>
              <a:rPr dirty="0" sz="1750" spc="-4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remain</a:t>
            </a:r>
            <a:r>
              <a:rPr dirty="0" sz="1750" spc="-30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ongoing</a:t>
            </a:r>
            <a:r>
              <a:rPr dirty="0" sz="1750" spc="-15" b="1">
                <a:latin typeface="Calibri"/>
                <a:cs typeface="Calibri"/>
              </a:rPr>
              <a:t> </a:t>
            </a:r>
            <a:r>
              <a:rPr dirty="0" sz="1750" b="1">
                <a:latin typeface="Calibri"/>
                <a:cs typeface="Calibri"/>
              </a:rPr>
              <a:t>challenges</a:t>
            </a:r>
            <a:r>
              <a:rPr dirty="0" sz="1750" spc="-40" b="1">
                <a:latin typeface="Calibri"/>
                <a:cs typeface="Calibri"/>
              </a:rPr>
              <a:t> </a:t>
            </a:r>
            <a:r>
              <a:rPr dirty="0" sz="1750" spc="-25" b="1">
                <a:latin typeface="Calibri"/>
                <a:cs typeface="Calibri"/>
              </a:rPr>
              <a:t>for </a:t>
            </a:r>
            <a:r>
              <a:rPr dirty="0" sz="1750" spc="-10" b="1">
                <a:latin typeface="Calibri"/>
                <a:cs typeface="Calibri"/>
              </a:rPr>
              <a:t>system</a:t>
            </a:r>
            <a:r>
              <a:rPr dirty="0" sz="1750" spc="-55" b="1">
                <a:latin typeface="Calibri"/>
                <a:cs typeface="Calibri"/>
              </a:rPr>
              <a:t> </a:t>
            </a:r>
            <a:r>
              <a:rPr dirty="0" sz="1750" spc="-10" b="1">
                <a:latin typeface="Calibri"/>
                <a:cs typeface="Calibri"/>
              </a:rPr>
              <a:t>credibility.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492" y="1057655"/>
            <a:ext cx="2692907" cy="565861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9200" y="2854452"/>
            <a:ext cx="4526280" cy="244297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215" rIns="0" bIns="0" rtlCol="0" vert="horz">
            <a:spAutoFit/>
          </a:bodyPr>
          <a:lstStyle/>
          <a:p>
            <a:pPr marL="2038985">
              <a:lnSpc>
                <a:spcPct val="100000"/>
              </a:lnSpc>
              <a:spcBef>
                <a:spcPts val="90"/>
              </a:spcBef>
            </a:pPr>
            <a:r>
              <a:rPr dirty="0"/>
              <a:t>Future</a:t>
            </a:r>
            <a:r>
              <a:rPr dirty="0" spc="-75"/>
              <a:t> </a:t>
            </a:r>
            <a:r>
              <a:rPr dirty="0" spc="-25"/>
              <a:t>Trends</a:t>
            </a:r>
            <a:r>
              <a:rPr dirty="0" spc="-85"/>
              <a:t> </a:t>
            </a:r>
            <a:r>
              <a:rPr dirty="0"/>
              <a:t>&amp;</a:t>
            </a:r>
            <a:r>
              <a:rPr dirty="0" spc="-75"/>
              <a:t> </a:t>
            </a:r>
            <a:r>
              <a:rPr dirty="0" spc="-10"/>
              <a:t>Conclusion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325120">
              <a:lnSpc>
                <a:spcPct val="100899"/>
              </a:lnSpc>
              <a:spcBef>
                <a:spcPts val="95"/>
              </a:spcBef>
            </a:pPr>
            <a:r>
              <a:rPr dirty="0"/>
              <a:t>Incorporating</a:t>
            </a:r>
            <a:r>
              <a:rPr dirty="0" spc="-30"/>
              <a:t> </a:t>
            </a:r>
            <a:r>
              <a:rPr dirty="0"/>
              <a:t>advanced</a:t>
            </a:r>
            <a:r>
              <a:rPr dirty="0" spc="-55"/>
              <a:t> </a:t>
            </a:r>
            <a:r>
              <a:rPr dirty="0"/>
              <a:t>AI techniques</a:t>
            </a:r>
            <a:r>
              <a:rPr dirty="0" spc="-35"/>
              <a:t> </a:t>
            </a:r>
            <a:r>
              <a:rPr dirty="0" spc="-20"/>
              <a:t>like </a:t>
            </a:r>
            <a:r>
              <a:rPr dirty="0"/>
              <a:t>deep learning</a:t>
            </a:r>
            <a:r>
              <a:rPr dirty="0" spc="-10"/>
              <a:t> </a:t>
            </a:r>
            <a:r>
              <a:rPr dirty="0"/>
              <a:t>can enhance</a:t>
            </a:r>
            <a:r>
              <a:rPr dirty="0" spc="-5"/>
              <a:t> </a:t>
            </a:r>
            <a:r>
              <a:rPr dirty="0" spc="-10"/>
              <a:t>personalization </a:t>
            </a:r>
            <a:r>
              <a:rPr dirty="0"/>
              <a:t>and review</a:t>
            </a:r>
            <a:r>
              <a:rPr dirty="0" spc="-35"/>
              <a:t> </a:t>
            </a:r>
            <a:r>
              <a:rPr dirty="0" spc="-10"/>
              <a:t>analysis.</a:t>
            </a:r>
          </a:p>
          <a:p>
            <a:pPr marL="12700" marR="86360">
              <a:lnSpc>
                <a:spcPct val="100899"/>
              </a:lnSpc>
              <a:spcBef>
                <a:spcPts val="2090"/>
              </a:spcBef>
            </a:pPr>
            <a:r>
              <a:rPr dirty="0" spc="-10"/>
              <a:t>Real-</a:t>
            </a:r>
            <a:r>
              <a:rPr dirty="0"/>
              <a:t>time</a:t>
            </a:r>
            <a:r>
              <a:rPr dirty="0" spc="-50"/>
              <a:t> </a:t>
            </a:r>
            <a:r>
              <a:rPr dirty="0"/>
              <a:t>data</a:t>
            </a:r>
            <a:r>
              <a:rPr dirty="0" spc="-35"/>
              <a:t> </a:t>
            </a:r>
            <a:r>
              <a:rPr dirty="0"/>
              <a:t>processing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10"/>
              <a:t>adaptive </a:t>
            </a:r>
            <a:r>
              <a:rPr dirty="0"/>
              <a:t>algorithms</a:t>
            </a:r>
            <a:r>
              <a:rPr dirty="0" spc="-60"/>
              <a:t> </a:t>
            </a:r>
            <a:r>
              <a:rPr dirty="0"/>
              <a:t>will</a:t>
            </a:r>
            <a:r>
              <a:rPr dirty="0" spc="-50"/>
              <a:t> </a:t>
            </a:r>
            <a:r>
              <a:rPr dirty="0"/>
              <a:t>make</a:t>
            </a:r>
            <a:r>
              <a:rPr dirty="0" spc="-45"/>
              <a:t> </a:t>
            </a:r>
            <a:r>
              <a:rPr dirty="0"/>
              <a:t>recommendations</a:t>
            </a:r>
            <a:r>
              <a:rPr dirty="0" spc="-35"/>
              <a:t> </a:t>
            </a:r>
            <a:r>
              <a:rPr dirty="0" spc="-20"/>
              <a:t>more </a:t>
            </a:r>
            <a:r>
              <a:rPr dirty="0"/>
              <a:t>dynamic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20"/>
              <a:t> </a:t>
            </a:r>
            <a:r>
              <a:rPr dirty="0" spc="-10"/>
              <a:t>context-aware.</a:t>
            </a:r>
          </a:p>
          <a:p>
            <a:pPr marL="12700" marR="5080">
              <a:lnSpc>
                <a:spcPct val="100800"/>
              </a:lnSpc>
              <a:spcBef>
                <a:spcPts val="2095"/>
              </a:spcBef>
            </a:pPr>
            <a:r>
              <a:rPr dirty="0"/>
              <a:t>A</a:t>
            </a:r>
            <a:r>
              <a:rPr dirty="0" spc="25"/>
              <a:t> </a:t>
            </a:r>
            <a:r>
              <a:rPr dirty="0" spc="-10"/>
              <a:t>well-</a:t>
            </a:r>
            <a:r>
              <a:rPr dirty="0"/>
              <a:t>designed</a:t>
            </a:r>
            <a:r>
              <a:rPr dirty="0" spc="-30"/>
              <a:t> </a:t>
            </a:r>
            <a:r>
              <a:rPr dirty="0"/>
              <a:t>Movie</a:t>
            </a:r>
            <a:r>
              <a:rPr dirty="0" spc="-5"/>
              <a:t> </a:t>
            </a:r>
            <a:r>
              <a:rPr dirty="0"/>
              <a:t>Recommendation</a:t>
            </a:r>
            <a:r>
              <a:rPr dirty="0" spc="-25"/>
              <a:t> </a:t>
            </a:r>
            <a:r>
              <a:rPr dirty="0" spc="-50"/>
              <a:t>&amp; </a:t>
            </a:r>
            <a:r>
              <a:rPr dirty="0"/>
              <a:t>Review</a:t>
            </a:r>
            <a:r>
              <a:rPr dirty="0" spc="-60"/>
              <a:t> </a:t>
            </a:r>
            <a:r>
              <a:rPr dirty="0"/>
              <a:t>System</a:t>
            </a:r>
            <a:r>
              <a:rPr dirty="0" spc="-40"/>
              <a:t> </a:t>
            </a:r>
            <a:r>
              <a:rPr dirty="0"/>
              <a:t>can</a:t>
            </a:r>
            <a:r>
              <a:rPr dirty="0" spc="-30"/>
              <a:t> </a:t>
            </a:r>
            <a:r>
              <a:rPr dirty="0"/>
              <a:t>significantly</a:t>
            </a:r>
            <a:r>
              <a:rPr dirty="0" spc="-40"/>
              <a:t> </a:t>
            </a:r>
            <a:r>
              <a:rPr dirty="0"/>
              <a:t>improve</a:t>
            </a:r>
            <a:r>
              <a:rPr dirty="0" spc="-35"/>
              <a:t> </a:t>
            </a:r>
            <a:r>
              <a:rPr dirty="0" spc="-20"/>
              <a:t>user </a:t>
            </a:r>
            <a:r>
              <a:rPr dirty="0"/>
              <a:t>engagement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5"/>
              <a:t> </a:t>
            </a:r>
            <a:r>
              <a:rPr dirty="0" spc="-10"/>
              <a:t>satisfaction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5"/>
              <a:t> </a:t>
            </a:r>
            <a:r>
              <a:rPr dirty="0" spc="-10"/>
              <a:t>entertainment platforms.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2389" y="2303603"/>
            <a:ext cx="4974590" cy="11322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250" spc="-640">
                <a:latin typeface="Times New Roman"/>
                <a:cs typeface="Times New Roman"/>
              </a:rPr>
              <a:t>THANK</a:t>
            </a:r>
            <a:r>
              <a:rPr dirty="0" sz="7250" spc="-30">
                <a:latin typeface="Times New Roman"/>
                <a:cs typeface="Times New Roman"/>
              </a:rPr>
              <a:t> </a:t>
            </a:r>
            <a:r>
              <a:rPr dirty="0" sz="7250" spc="-880">
                <a:latin typeface="Times New Roman"/>
                <a:cs typeface="Times New Roman"/>
              </a:rPr>
              <a:t>YOU</a:t>
            </a:r>
            <a:endParaRPr sz="7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SUMAN</dc:creator>
  <dc:title>Microsoft PowerPoint - Movie Recommendation ^0 Review System</dc:title>
  <dcterms:created xsi:type="dcterms:W3CDTF">2026-04-09T18:36:58Z</dcterms:created>
  <dcterms:modified xsi:type="dcterms:W3CDTF">2026-04-09T18:36:58Z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2026-04-08T00:00:00Z</vt:filetime>
  </property>
  <property fmtid="{D5CDD505-2E9C-101B-9397-08002B2CF9AE}" pid="3" name="LastSaved">
    <vt:filetime>2026-04-09T00:00:00Z</vt:filetime>
  </property>
  <property fmtid="{D5CDD505-2E9C-101B-9397-08002B2CF9AE}" pid="4" name="Producer">
    <vt:lpwstr>Microsoft: Print To PDF</vt:lpwstr>
  </property>
</Properties>
</file>